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1874500" cy="6819900"/>
  <p:notesSz cx="6858000" cy="9144000"/>
  <p:embeddedFontLst>
    <p:embeddedFont>
      <p:font typeface="Gotham Bold" charset="1" panose="00000000000000000000"/>
      <p:regular r:id="rId19"/>
    </p:embeddedFont>
    <p:embeddedFont>
      <p:font typeface="Gotham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877675" cy="6829425"/>
          </a:xfrm>
          <a:custGeom>
            <a:avLst/>
            <a:gdLst/>
            <a:ahLst/>
            <a:cxnLst/>
            <a:rect r="r" b="b" t="t" l="l"/>
            <a:pathLst>
              <a:path h="6829425" w="11877675">
                <a:moveTo>
                  <a:pt x="0" y="0"/>
                </a:moveTo>
                <a:lnTo>
                  <a:pt x="11877675" y="0"/>
                </a:lnTo>
                <a:lnTo>
                  <a:pt x="11877675" y="6829425"/>
                </a:lnTo>
                <a:lnTo>
                  <a:pt x="0" y="682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40" y="-44109"/>
            <a:ext cx="11872535" cy="6858000"/>
          </a:xfrm>
          <a:custGeom>
            <a:avLst/>
            <a:gdLst/>
            <a:ahLst/>
            <a:cxnLst/>
            <a:rect r="r" b="b" t="t" l="l"/>
            <a:pathLst>
              <a:path h="6858000" w="11872535">
                <a:moveTo>
                  <a:pt x="0" y="0"/>
                </a:moveTo>
                <a:lnTo>
                  <a:pt x="11872535" y="0"/>
                </a:lnTo>
                <a:lnTo>
                  <a:pt x="1187253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" t="0" r="-261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40064" y="1651124"/>
            <a:ext cx="9797548" cy="139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8"/>
              </a:lnSpc>
            </a:pPr>
            <a:r>
              <a:rPr lang="en-US" sz="5035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Big Data Analysis</a:t>
            </a:r>
          </a:p>
          <a:p>
            <a:pPr algn="ctr">
              <a:lnSpc>
                <a:spcPts val="5438"/>
              </a:lnSpc>
            </a:pPr>
            <a:r>
              <a:rPr lang="en-US" sz="5035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Presentation for final project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55568" y="5426527"/>
            <a:ext cx="11080865" cy="45719"/>
            <a:chOff x="0" y="0"/>
            <a:chExt cx="14774487" cy="609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74545" cy="60960"/>
            </a:xfrm>
            <a:custGeom>
              <a:avLst/>
              <a:gdLst/>
              <a:ahLst/>
              <a:cxnLst/>
              <a:rect r="r" b="b" t="t" l="l"/>
              <a:pathLst>
                <a:path h="60960" w="14774545">
                  <a:moveTo>
                    <a:pt x="0" y="0"/>
                  </a:moveTo>
                  <a:lnTo>
                    <a:pt x="14774545" y="0"/>
                  </a:lnTo>
                  <a:lnTo>
                    <a:pt x="14774545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462904" y="5702146"/>
            <a:ext cx="1989945" cy="888672"/>
          </a:xfrm>
          <a:custGeom>
            <a:avLst/>
            <a:gdLst/>
            <a:ahLst/>
            <a:cxnLst/>
            <a:rect r="r" b="b" t="t" l="l"/>
            <a:pathLst>
              <a:path h="888672" w="1989945">
                <a:moveTo>
                  <a:pt x="0" y="0"/>
                </a:moveTo>
                <a:lnTo>
                  <a:pt x="1989945" y="0"/>
                </a:lnTo>
                <a:lnTo>
                  <a:pt x="1989945" y="888672"/>
                </a:lnTo>
                <a:lnTo>
                  <a:pt x="0" y="888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" r="0" b="-2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5568" y="5760372"/>
            <a:ext cx="484401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Made by</a:t>
            </a:r>
            <a:r>
              <a:rPr lang="en-US" sz="18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: Mukhamedali Nurislam, Mukashev Rashid, Makulbek Alisher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877675" cy="6829425"/>
          </a:xfrm>
          <a:custGeom>
            <a:avLst/>
            <a:gdLst/>
            <a:ahLst/>
            <a:cxnLst/>
            <a:rect r="r" b="b" t="t" l="l"/>
            <a:pathLst>
              <a:path h="6829425" w="11877675">
                <a:moveTo>
                  <a:pt x="0" y="0"/>
                </a:moveTo>
                <a:lnTo>
                  <a:pt x="11877675" y="0"/>
                </a:lnTo>
                <a:lnTo>
                  <a:pt x="11877675" y="6829425"/>
                </a:lnTo>
                <a:lnTo>
                  <a:pt x="0" y="682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0898" y="410073"/>
            <a:ext cx="8315879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250" b="true">
                <a:solidFill>
                  <a:srgbClr val="D50032"/>
                </a:solidFill>
                <a:latin typeface="Gotham Bold"/>
                <a:ea typeface="Gotham Bold"/>
                <a:cs typeface="Gotham Bold"/>
                <a:sym typeface="Gotham Bold"/>
              </a:rPr>
              <a:t>Introduction:</a:t>
            </a:r>
          </a:p>
          <a:p>
            <a:pPr algn="ctr">
              <a:lnSpc>
                <a:spcPts val="6300"/>
              </a:lnSpc>
            </a:pPr>
            <a:r>
              <a:rPr lang="en-US" sz="5250" b="true">
                <a:solidFill>
                  <a:srgbClr val="D50032"/>
                </a:solidFill>
                <a:latin typeface="Gotham Bold"/>
                <a:ea typeface="Gotham Bold"/>
                <a:cs typeface="Gotham Bold"/>
                <a:sym typeface="Gotham Bold"/>
              </a:rPr>
              <a:t>Dataset &amp; Objective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67451" y="2663839"/>
            <a:ext cx="6942774" cy="295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9"/>
              </a:lnSpc>
            </a:pPr>
            <a:r>
              <a:rPr lang="en-US" sz="1991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In this project we work with two datasets.</a:t>
            </a:r>
          </a:p>
          <a:p>
            <a:pPr algn="ctr">
              <a:lnSpc>
                <a:spcPts val="2389"/>
              </a:lnSpc>
            </a:pPr>
            <a:r>
              <a:rPr lang="en-US" sz="1991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The first dataset contains e-commerce transactions: orders, revenue, profit, dates and products.</a:t>
            </a:r>
          </a:p>
          <a:p>
            <a:pPr algn="ctr">
              <a:lnSpc>
                <a:spcPts val="2389"/>
              </a:lnSpc>
            </a:pPr>
            <a:r>
              <a:rPr lang="en-US" sz="1991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The second dataset contains customer information: age, gender, income, job and work indicators.</a:t>
            </a:r>
          </a:p>
          <a:p>
            <a:pPr algn="ctr">
              <a:lnSpc>
                <a:spcPts val="2389"/>
              </a:lnSpc>
            </a:pPr>
            <a:r>
              <a:rPr lang="en-US" sz="1991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The main goal of the project is to understand customer behavior and sales patterns.</a:t>
            </a:r>
          </a:p>
          <a:p>
            <a:pPr algn="ctr">
              <a:lnSpc>
                <a:spcPts val="2389"/>
              </a:lnSpc>
            </a:pPr>
            <a:r>
              <a:rPr lang="en-US" sz="1991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We also want to predict future sales and customer interest in products.</a:t>
            </a:r>
          </a:p>
          <a:p>
            <a:pPr algn="ctr">
              <a:lnSpc>
                <a:spcPts val="238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877675" cy="6829425"/>
          </a:xfrm>
          <a:custGeom>
            <a:avLst/>
            <a:gdLst/>
            <a:ahLst/>
            <a:cxnLst/>
            <a:rect r="r" b="b" t="t" l="l"/>
            <a:pathLst>
              <a:path h="6829425" w="11877675">
                <a:moveTo>
                  <a:pt x="0" y="0"/>
                </a:moveTo>
                <a:lnTo>
                  <a:pt x="11877675" y="0"/>
                </a:lnTo>
                <a:lnTo>
                  <a:pt x="11877675" y="6829425"/>
                </a:lnTo>
                <a:lnTo>
                  <a:pt x="0" y="682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14370" y="1568760"/>
            <a:ext cx="2906376" cy="2499813"/>
          </a:xfrm>
          <a:custGeom>
            <a:avLst/>
            <a:gdLst/>
            <a:ahLst/>
            <a:cxnLst/>
            <a:rect r="r" b="b" t="t" l="l"/>
            <a:pathLst>
              <a:path h="2499813" w="2906376">
                <a:moveTo>
                  <a:pt x="0" y="0"/>
                </a:moveTo>
                <a:lnTo>
                  <a:pt x="2906376" y="0"/>
                </a:lnTo>
                <a:lnTo>
                  <a:pt x="2906376" y="2499813"/>
                </a:lnTo>
                <a:lnTo>
                  <a:pt x="0" y="2499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20746" y="1568760"/>
            <a:ext cx="2856929" cy="2499813"/>
          </a:xfrm>
          <a:custGeom>
            <a:avLst/>
            <a:gdLst/>
            <a:ahLst/>
            <a:cxnLst/>
            <a:rect r="r" b="b" t="t" l="l"/>
            <a:pathLst>
              <a:path h="2499813" w="2856929">
                <a:moveTo>
                  <a:pt x="0" y="0"/>
                </a:moveTo>
                <a:lnTo>
                  <a:pt x="2856929" y="0"/>
                </a:lnTo>
                <a:lnTo>
                  <a:pt x="2856929" y="2499813"/>
                </a:lnTo>
                <a:lnTo>
                  <a:pt x="0" y="2499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2942" y="407276"/>
            <a:ext cx="9625703" cy="159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5"/>
              </a:lnSpc>
            </a:pPr>
            <a:r>
              <a:rPr lang="en-US" sz="5254" b="true">
                <a:solidFill>
                  <a:srgbClr val="D50032"/>
                </a:solidFill>
                <a:latin typeface="Gotham Bold"/>
                <a:ea typeface="Gotham Bold"/>
                <a:cs typeface="Gotham Bold"/>
                <a:sym typeface="Gotham Bold"/>
              </a:rPr>
              <a:t>Task 1: Data L</a:t>
            </a:r>
            <a:r>
              <a:rPr lang="en-US" sz="5254" b="true">
                <a:solidFill>
                  <a:srgbClr val="D50032"/>
                </a:solidFill>
                <a:latin typeface="Gotham Bold"/>
                <a:ea typeface="Gotham Bold"/>
                <a:cs typeface="Gotham Bold"/>
                <a:sym typeface="Gotham Bold"/>
              </a:rPr>
              <a:t>oading and Cleaning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9854" y="2247334"/>
            <a:ext cx="5068984" cy="402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11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First, we loaded both datasets and checked their structure.</a:t>
            </a:r>
          </a:p>
          <a:p>
            <a:pPr algn="l">
              <a:lnSpc>
                <a:spcPts val="2173"/>
              </a:lnSpc>
            </a:pPr>
          </a:p>
          <a:p>
            <a:pPr algn="l">
              <a:lnSpc>
                <a:spcPts val="2173"/>
              </a:lnSpc>
            </a:pPr>
            <a:r>
              <a:rPr lang="en-US" sz="1811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We looked at columns, data types and basic information and found missing values, duplicates and incorrect data types.</a:t>
            </a:r>
          </a:p>
          <a:p>
            <a:pPr algn="l">
              <a:lnSpc>
                <a:spcPts val="2173"/>
              </a:lnSpc>
            </a:pPr>
            <a:r>
              <a:rPr lang="en-US" sz="1811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Missing values were filled using mean or mode, or removed, duplicates were removed to avoid repeated transactions.</a:t>
            </a:r>
          </a:p>
          <a:p>
            <a:pPr algn="l">
              <a:lnSpc>
                <a:spcPts val="2173"/>
              </a:lnSpc>
            </a:pPr>
          </a:p>
          <a:p>
            <a:pPr algn="l">
              <a:lnSpc>
                <a:spcPts val="2173"/>
              </a:lnSpc>
            </a:pPr>
            <a:r>
              <a:rPr lang="en-US" sz="1811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W</a:t>
            </a:r>
            <a:r>
              <a:rPr lang="en-US" sz="1811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 also fixed logical errors, for example negative profit or incorrect dates.</a:t>
            </a:r>
          </a:p>
          <a:p>
            <a:pPr algn="l">
              <a:lnSpc>
                <a:spcPts val="2173"/>
              </a:lnSpc>
            </a:pPr>
            <a:r>
              <a:rPr lang="en-US" sz="1811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Categorical values were normalized </a:t>
            </a:r>
          </a:p>
          <a:p>
            <a:pPr algn="l">
              <a:lnSpc>
                <a:spcPts val="2173"/>
              </a:lnSpc>
            </a:pPr>
            <a:r>
              <a:rPr lang="en-US" sz="1811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After cleaning, we received two clean datasets ready for analysis.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204048" y="4261751"/>
            <a:ext cx="3633394" cy="2229799"/>
            <a:chOff x="0" y="0"/>
            <a:chExt cx="4844526" cy="29730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44526" cy="1012946"/>
            </a:xfrm>
            <a:custGeom>
              <a:avLst/>
              <a:gdLst/>
              <a:ahLst/>
              <a:cxnLst/>
              <a:rect r="r" b="b" t="t" l="l"/>
              <a:pathLst>
                <a:path h="1012946" w="4844526">
                  <a:moveTo>
                    <a:pt x="0" y="0"/>
                  </a:moveTo>
                  <a:lnTo>
                    <a:pt x="4844526" y="0"/>
                  </a:lnTo>
                  <a:lnTo>
                    <a:pt x="4844526" y="1012946"/>
                  </a:lnTo>
                  <a:lnTo>
                    <a:pt x="0" y="1012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273033"/>
              <a:ext cx="4844526" cy="738627"/>
            </a:xfrm>
            <a:custGeom>
              <a:avLst/>
              <a:gdLst/>
              <a:ahLst/>
              <a:cxnLst/>
              <a:rect r="r" b="b" t="t" l="l"/>
              <a:pathLst>
                <a:path h="738627" w="4844526">
                  <a:moveTo>
                    <a:pt x="0" y="0"/>
                  </a:moveTo>
                  <a:lnTo>
                    <a:pt x="4844526" y="0"/>
                  </a:lnTo>
                  <a:lnTo>
                    <a:pt x="4844526" y="738627"/>
                  </a:lnTo>
                  <a:lnTo>
                    <a:pt x="0" y="738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2272738"/>
              <a:ext cx="4844526" cy="700327"/>
            </a:xfrm>
            <a:custGeom>
              <a:avLst/>
              <a:gdLst/>
              <a:ahLst/>
              <a:cxnLst/>
              <a:rect r="r" b="b" t="t" l="l"/>
              <a:pathLst>
                <a:path h="700327" w="4844526">
                  <a:moveTo>
                    <a:pt x="0" y="0"/>
                  </a:moveTo>
                  <a:lnTo>
                    <a:pt x="4844526" y="0"/>
                  </a:lnTo>
                  <a:lnTo>
                    <a:pt x="4844526" y="700327"/>
                  </a:lnTo>
                  <a:lnTo>
                    <a:pt x="0" y="700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8408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877675" cy="6829425"/>
          </a:xfrm>
          <a:custGeom>
            <a:avLst/>
            <a:gdLst/>
            <a:ahLst/>
            <a:cxnLst/>
            <a:rect r="r" b="b" t="t" l="l"/>
            <a:pathLst>
              <a:path h="6829425" w="11877675">
                <a:moveTo>
                  <a:pt x="0" y="0"/>
                </a:moveTo>
                <a:lnTo>
                  <a:pt x="11877675" y="0"/>
                </a:lnTo>
                <a:lnTo>
                  <a:pt x="11877675" y="6829425"/>
                </a:lnTo>
                <a:lnTo>
                  <a:pt x="0" y="682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82309" y="4056277"/>
            <a:ext cx="3156750" cy="2479397"/>
          </a:xfrm>
          <a:custGeom>
            <a:avLst/>
            <a:gdLst/>
            <a:ahLst/>
            <a:cxnLst/>
            <a:rect r="r" b="b" t="t" l="l"/>
            <a:pathLst>
              <a:path h="2479397" w="3156750">
                <a:moveTo>
                  <a:pt x="0" y="0"/>
                </a:moveTo>
                <a:lnTo>
                  <a:pt x="3156750" y="0"/>
                </a:lnTo>
                <a:lnTo>
                  <a:pt x="3156750" y="2479397"/>
                </a:lnTo>
                <a:lnTo>
                  <a:pt x="0" y="2479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" t="0" r="-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0496" y="4056277"/>
            <a:ext cx="3205734" cy="2479397"/>
          </a:xfrm>
          <a:custGeom>
            <a:avLst/>
            <a:gdLst/>
            <a:ahLst/>
            <a:cxnLst/>
            <a:rect r="r" b="b" t="t" l="l"/>
            <a:pathLst>
              <a:path h="2479397" w="3205734">
                <a:moveTo>
                  <a:pt x="0" y="0"/>
                </a:moveTo>
                <a:lnTo>
                  <a:pt x="3205734" y="0"/>
                </a:lnTo>
                <a:lnTo>
                  <a:pt x="3205734" y="2479397"/>
                </a:lnTo>
                <a:lnTo>
                  <a:pt x="0" y="24793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" t="0" r="-6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39059" y="4094377"/>
            <a:ext cx="2662963" cy="2479397"/>
          </a:xfrm>
          <a:custGeom>
            <a:avLst/>
            <a:gdLst/>
            <a:ahLst/>
            <a:cxnLst/>
            <a:rect r="r" b="b" t="t" l="l"/>
            <a:pathLst>
              <a:path h="2479397" w="2662963">
                <a:moveTo>
                  <a:pt x="0" y="0"/>
                </a:moveTo>
                <a:lnTo>
                  <a:pt x="2662963" y="0"/>
                </a:lnTo>
                <a:lnTo>
                  <a:pt x="2662963" y="2479397"/>
                </a:lnTo>
                <a:lnTo>
                  <a:pt x="0" y="24793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0" t="0" r="-6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02022" y="4094377"/>
            <a:ext cx="2575653" cy="2479397"/>
          </a:xfrm>
          <a:custGeom>
            <a:avLst/>
            <a:gdLst/>
            <a:ahLst/>
            <a:cxnLst/>
            <a:rect r="r" b="b" t="t" l="l"/>
            <a:pathLst>
              <a:path h="2479397" w="2575653">
                <a:moveTo>
                  <a:pt x="0" y="0"/>
                </a:moveTo>
                <a:lnTo>
                  <a:pt x="2575653" y="0"/>
                </a:lnTo>
                <a:lnTo>
                  <a:pt x="2575653" y="2479397"/>
                </a:lnTo>
                <a:lnTo>
                  <a:pt x="0" y="2479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0" t="0" r="-6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4008" y="326408"/>
            <a:ext cx="10689660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250" b="true">
                <a:solidFill>
                  <a:srgbClr val="D50032"/>
                </a:solidFill>
                <a:latin typeface="Gotham Bold"/>
                <a:ea typeface="Gotham Bold"/>
                <a:cs typeface="Gotham Bold"/>
                <a:sym typeface="Gotham Bold"/>
              </a:rPr>
              <a:t>Task 2: Exploratory Data Analysis (EDA)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6874" y="2217391"/>
            <a:ext cx="8523928" cy="1366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8"/>
              </a:lnSpc>
            </a:pPr>
            <a:r>
              <a:rPr lang="en-US" sz="180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 After cleaning, we explored the data using descriptive statistics.</a:t>
            </a:r>
          </a:p>
          <a:p>
            <a:pPr algn="ctr">
              <a:lnSpc>
                <a:spcPts val="2168"/>
              </a:lnSpc>
            </a:pPr>
            <a:r>
              <a:rPr lang="en-US" sz="180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 </a:t>
            </a:r>
            <a:r>
              <a:rPr lang="en-US" sz="180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We calculated mean, median, standard deviation and quantiles.</a:t>
            </a:r>
          </a:p>
          <a:p>
            <a:pPr algn="ctr">
              <a:lnSpc>
                <a:spcPts val="2168"/>
              </a:lnSpc>
            </a:pPr>
            <a:r>
              <a:rPr lang="en-US" sz="180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The analys</a:t>
            </a:r>
            <a:r>
              <a:rPr lang="en-US" sz="180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is helps us understand how sales and profit are distributed.</a:t>
            </a:r>
          </a:p>
          <a:p>
            <a:pPr algn="ctr">
              <a:lnSpc>
                <a:spcPts val="2168"/>
              </a:lnSpc>
            </a:pPr>
            <a:r>
              <a:rPr lang="en-US" sz="180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 </a:t>
            </a:r>
            <a:r>
              <a:rPr lang="en-US" sz="180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W</a:t>
            </a:r>
            <a:r>
              <a:rPr lang="en-US" sz="180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 also compared different customer segments and categories.</a:t>
            </a:r>
          </a:p>
          <a:p>
            <a:pPr algn="ctr">
              <a:lnSpc>
                <a:spcPts val="2168"/>
              </a:lnSpc>
            </a:pPr>
            <a:r>
              <a:rPr lang="en-US" sz="180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EDA gives insights before modeling.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877675" cy="6829425"/>
          </a:xfrm>
          <a:custGeom>
            <a:avLst/>
            <a:gdLst/>
            <a:ahLst/>
            <a:cxnLst/>
            <a:rect r="r" b="b" t="t" l="l"/>
            <a:pathLst>
              <a:path h="6829425" w="11877675">
                <a:moveTo>
                  <a:pt x="0" y="0"/>
                </a:moveTo>
                <a:lnTo>
                  <a:pt x="11877675" y="0"/>
                </a:lnTo>
                <a:lnTo>
                  <a:pt x="11877675" y="6829425"/>
                </a:lnTo>
                <a:lnTo>
                  <a:pt x="0" y="682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77797" y="1460596"/>
            <a:ext cx="8007675" cy="3493348"/>
          </a:xfrm>
          <a:custGeom>
            <a:avLst/>
            <a:gdLst/>
            <a:ahLst/>
            <a:cxnLst/>
            <a:rect r="r" b="b" t="t" l="l"/>
            <a:pathLst>
              <a:path h="3493348" w="8007675">
                <a:moveTo>
                  <a:pt x="0" y="0"/>
                </a:moveTo>
                <a:lnTo>
                  <a:pt x="8007675" y="0"/>
                </a:lnTo>
                <a:lnTo>
                  <a:pt x="8007675" y="3493349"/>
                </a:lnTo>
                <a:lnTo>
                  <a:pt x="0" y="34933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49696" y="282893"/>
            <a:ext cx="666387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250" b="true">
                <a:solidFill>
                  <a:srgbClr val="D50032"/>
                </a:solidFill>
                <a:latin typeface="Gotham Bold"/>
                <a:ea typeface="Gotham Bold"/>
                <a:cs typeface="Gotham Bold"/>
                <a:sym typeface="Gotham Bold"/>
              </a:rPr>
              <a:t>EDA — Key I</a:t>
            </a:r>
            <a:r>
              <a:rPr lang="en-US" sz="5250" b="true">
                <a:solidFill>
                  <a:srgbClr val="D50032"/>
                </a:solidFill>
                <a:latin typeface="Gotham Bold"/>
                <a:ea typeface="Gotham Bold"/>
                <a:cs typeface="Gotham Bold"/>
                <a:sym typeface="Gotham Bold"/>
              </a:rPr>
              <a:t>nsights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46165" y="5128580"/>
            <a:ext cx="8470940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From the visualizations we see clear patterns.</a:t>
            </a:r>
          </a:p>
          <a:p>
            <a:pPr algn="ctr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Som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 customer segments generate more revenue than others.</a:t>
            </a:r>
          </a:p>
          <a:p>
            <a:pPr algn="ctr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Sale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s change over time and show visible trends.</a:t>
            </a:r>
          </a:p>
          <a:p>
            <a:pPr algn="ctr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Profit distribution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i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s not symmetric, and there are outliers.</a:t>
            </a:r>
          </a:p>
          <a:p>
            <a:pPr algn="ctr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These results help us choose correct models for the next steps.</a:t>
            </a:r>
          </a:p>
          <a:p>
            <a:pPr algn="ctr">
              <a:lnSpc>
                <a:spcPts val="217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877675" cy="6829425"/>
          </a:xfrm>
          <a:custGeom>
            <a:avLst/>
            <a:gdLst/>
            <a:ahLst/>
            <a:cxnLst/>
            <a:rect r="r" b="b" t="t" l="l"/>
            <a:pathLst>
              <a:path h="6829425" w="11877675">
                <a:moveTo>
                  <a:pt x="0" y="0"/>
                </a:moveTo>
                <a:lnTo>
                  <a:pt x="11877675" y="0"/>
                </a:lnTo>
                <a:lnTo>
                  <a:pt x="11877675" y="6829425"/>
                </a:lnTo>
                <a:lnTo>
                  <a:pt x="0" y="682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5559" y="1267811"/>
            <a:ext cx="6678345" cy="3314129"/>
          </a:xfrm>
          <a:custGeom>
            <a:avLst/>
            <a:gdLst/>
            <a:ahLst/>
            <a:cxnLst/>
            <a:rect r="r" b="b" t="t" l="l"/>
            <a:pathLst>
              <a:path h="3314129" w="6678345">
                <a:moveTo>
                  <a:pt x="0" y="0"/>
                </a:moveTo>
                <a:lnTo>
                  <a:pt x="6678345" y="0"/>
                </a:lnTo>
                <a:lnTo>
                  <a:pt x="6678345" y="3314129"/>
                </a:lnTo>
                <a:lnTo>
                  <a:pt x="0" y="33141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51525" y="1528988"/>
            <a:ext cx="3304492" cy="2530729"/>
          </a:xfrm>
          <a:custGeom>
            <a:avLst/>
            <a:gdLst/>
            <a:ahLst/>
            <a:cxnLst/>
            <a:rect r="r" b="b" t="t" l="l"/>
            <a:pathLst>
              <a:path h="2530729" w="3304492">
                <a:moveTo>
                  <a:pt x="0" y="0"/>
                </a:moveTo>
                <a:lnTo>
                  <a:pt x="3304491" y="0"/>
                </a:lnTo>
                <a:lnTo>
                  <a:pt x="3304491" y="2530729"/>
                </a:lnTo>
                <a:lnTo>
                  <a:pt x="0" y="25307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51525" y="4059717"/>
            <a:ext cx="3304492" cy="2530729"/>
          </a:xfrm>
          <a:custGeom>
            <a:avLst/>
            <a:gdLst/>
            <a:ahLst/>
            <a:cxnLst/>
            <a:rect r="r" b="b" t="t" l="l"/>
            <a:pathLst>
              <a:path h="2530729" w="3304492">
                <a:moveTo>
                  <a:pt x="0" y="0"/>
                </a:moveTo>
                <a:lnTo>
                  <a:pt x="3304491" y="0"/>
                </a:lnTo>
                <a:lnTo>
                  <a:pt x="3304491" y="2530728"/>
                </a:lnTo>
                <a:lnTo>
                  <a:pt x="0" y="2530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96894" y="273368"/>
            <a:ext cx="976948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250" b="true">
                <a:solidFill>
                  <a:srgbClr val="D50032"/>
                </a:solidFill>
                <a:latin typeface="Gotham Bold"/>
                <a:ea typeface="Gotham Bold"/>
                <a:cs typeface="Gotham Bold"/>
                <a:sym typeface="Gotham Bold"/>
              </a:rPr>
              <a:t>Task 3: Time Series A</a:t>
            </a:r>
            <a:r>
              <a:rPr lang="en-US" sz="5250" b="true">
                <a:solidFill>
                  <a:srgbClr val="D50032"/>
                </a:solidFill>
                <a:latin typeface="Gotham Bold"/>
                <a:ea typeface="Gotham Bold"/>
                <a:cs typeface="Gotham Bold"/>
                <a:sym typeface="Gotham Bold"/>
              </a:rPr>
              <a:t>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1698" y="4943348"/>
            <a:ext cx="7639827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We used transactional data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for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time series analysis.</a:t>
            </a:r>
          </a:p>
          <a:p>
            <a:pPr algn="ctr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Sale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s were aggregated by time (monthly or daily).</a:t>
            </a:r>
          </a:p>
          <a:p>
            <a:pPr algn="ctr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First, we tested stationar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ty using the ADF test.</a:t>
            </a:r>
          </a:p>
          <a:p>
            <a:pPr algn="ctr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Then we plotted ACF and PACF to understand time dependence.</a:t>
            </a:r>
          </a:p>
          <a:p>
            <a:pPr algn="ctr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Based on these plots, we selected an ARIMA model.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877675" cy="6829425"/>
          </a:xfrm>
          <a:custGeom>
            <a:avLst/>
            <a:gdLst/>
            <a:ahLst/>
            <a:cxnLst/>
            <a:rect r="r" b="b" t="t" l="l"/>
            <a:pathLst>
              <a:path h="6829425" w="11877675">
                <a:moveTo>
                  <a:pt x="0" y="0"/>
                </a:moveTo>
                <a:lnTo>
                  <a:pt x="11877675" y="0"/>
                </a:lnTo>
                <a:lnTo>
                  <a:pt x="11877675" y="6829425"/>
                </a:lnTo>
                <a:lnTo>
                  <a:pt x="0" y="682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68871" y="1517240"/>
            <a:ext cx="7339932" cy="3293795"/>
          </a:xfrm>
          <a:custGeom>
            <a:avLst/>
            <a:gdLst/>
            <a:ahLst/>
            <a:cxnLst/>
            <a:rect r="r" b="b" t="t" l="l"/>
            <a:pathLst>
              <a:path h="3293795" w="7339932">
                <a:moveTo>
                  <a:pt x="0" y="0"/>
                </a:moveTo>
                <a:lnTo>
                  <a:pt x="7339933" y="0"/>
                </a:lnTo>
                <a:lnTo>
                  <a:pt x="7339933" y="3293795"/>
                </a:lnTo>
                <a:lnTo>
                  <a:pt x="0" y="32937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84043" y="273367"/>
            <a:ext cx="710958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250" b="true">
                <a:solidFill>
                  <a:srgbClr val="D50032"/>
                </a:solidFill>
                <a:latin typeface="Gotham Bold"/>
                <a:ea typeface="Gotham Bold"/>
                <a:cs typeface="Gotham Bold"/>
                <a:sym typeface="Gotham Bold"/>
              </a:rPr>
              <a:t>Forecasting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9654" y="5245282"/>
            <a:ext cx="9623962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The ARIMA model was used to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forecast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the next 12 periods.</a:t>
            </a:r>
          </a:p>
          <a:p>
            <a:pPr algn="ctr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The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forecast shows expected future sales values.</a:t>
            </a:r>
          </a:p>
          <a:p>
            <a:pPr algn="ctr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W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 evaluated model qual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ty using RMSE and MAE.</a:t>
            </a:r>
          </a:p>
          <a:p>
            <a:pPr algn="ctr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The errors are acceptable, so the model is reliable for short-term forecasting.</a:t>
            </a:r>
          </a:p>
          <a:p>
            <a:pPr algn="ctr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This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model can help businesses plan inventory and demand.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877675" cy="6829425"/>
          </a:xfrm>
          <a:custGeom>
            <a:avLst/>
            <a:gdLst/>
            <a:ahLst/>
            <a:cxnLst/>
            <a:rect r="r" b="b" t="t" l="l"/>
            <a:pathLst>
              <a:path h="6829425" w="11877675">
                <a:moveTo>
                  <a:pt x="0" y="0"/>
                </a:moveTo>
                <a:lnTo>
                  <a:pt x="11877675" y="0"/>
                </a:lnTo>
                <a:lnTo>
                  <a:pt x="11877675" y="6829425"/>
                </a:lnTo>
                <a:lnTo>
                  <a:pt x="0" y="682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4569" y="1992281"/>
            <a:ext cx="4544268" cy="3253001"/>
          </a:xfrm>
          <a:custGeom>
            <a:avLst/>
            <a:gdLst/>
            <a:ahLst/>
            <a:cxnLst/>
            <a:rect r="r" b="b" t="t" l="l"/>
            <a:pathLst>
              <a:path h="3253001" w="4544268">
                <a:moveTo>
                  <a:pt x="0" y="0"/>
                </a:moveTo>
                <a:lnTo>
                  <a:pt x="4544269" y="0"/>
                </a:lnTo>
                <a:lnTo>
                  <a:pt x="4544269" y="3253001"/>
                </a:lnTo>
                <a:lnTo>
                  <a:pt x="0" y="32530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38838" y="1993137"/>
            <a:ext cx="4585655" cy="3253001"/>
          </a:xfrm>
          <a:custGeom>
            <a:avLst/>
            <a:gdLst/>
            <a:ahLst/>
            <a:cxnLst/>
            <a:rect r="r" b="b" t="t" l="l"/>
            <a:pathLst>
              <a:path h="3253001" w="4585655">
                <a:moveTo>
                  <a:pt x="0" y="0"/>
                </a:moveTo>
                <a:lnTo>
                  <a:pt x="4585655" y="0"/>
                </a:lnTo>
                <a:lnTo>
                  <a:pt x="4585655" y="3253001"/>
                </a:lnTo>
                <a:lnTo>
                  <a:pt x="0" y="32530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84043" y="273367"/>
            <a:ext cx="7109589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250" b="true">
                <a:solidFill>
                  <a:srgbClr val="D50032"/>
                </a:solidFill>
                <a:latin typeface="Gotham Bold"/>
                <a:ea typeface="Gotham Bold"/>
                <a:cs typeface="Gotham Bold"/>
                <a:sym typeface="Gotham Bold"/>
              </a:rPr>
              <a:t>Task 4: Customer Segmentation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45884" y="5356183"/>
            <a:ext cx="6748403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In this task we per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formed custom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er segmentation.</a:t>
            </a:r>
          </a:p>
          <a:p>
            <a:pPr algn="l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We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selected numerical and categorical customer features.</a:t>
            </a:r>
          </a:p>
          <a:p>
            <a:pPr algn="l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Cat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egorical variables were encoded.</a:t>
            </a:r>
          </a:p>
          <a:p>
            <a:pPr algn="l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Numerical features were scaled.</a:t>
            </a:r>
          </a:p>
          <a:p>
            <a:pPr algn="l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We applied the hierarchial clustering algorithm.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0888" y="5350057"/>
            <a:ext cx="3556533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k = 2,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silhou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ette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score = 0.495 k = 3, silhouette score = 0.330 k = 4, silhouette score = 0.321 k = 5, silhouette score = 0.323 k = 6, silhouette score = 0.185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877675" cy="6829425"/>
          </a:xfrm>
          <a:custGeom>
            <a:avLst/>
            <a:gdLst/>
            <a:ahLst/>
            <a:cxnLst/>
            <a:rect r="r" b="b" t="t" l="l"/>
            <a:pathLst>
              <a:path h="6829425" w="11877675">
                <a:moveTo>
                  <a:pt x="0" y="0"/>
                </a:moveTo>
                <a:lnTo>
                  <a:pt x="11877675" y="0"/>
                </a:lnTo>
                <a:lnTo>
                  <a:pt x="11877675" y="6829425"/>
                </a:lnTo>
                <a:lnTo>
                  <a:pt x="0" y="682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01742" y="273367"/>
            <a:ext cx="827419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250" b="true">
                <a:solidFill>
                  <a:srgbClr val="D50032"/>
                </a:solidFill>
                <a:latin typeface="Gotham Bold"/>
                <a:ea typeface="Gotham Bold"/>
                <a:cs typeface="Gotham Bold"/>
                <a:sym typeface="Gotham Bold"/>
              </a:rPr>
              <a:t>Cluster Interpretation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4217" y="5087187"/>
            <a:ext cx="7956138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Each cluster represents a different type 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of custom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er.</a:t>
            </a:r>
          </a:p>
          <a:p>
            <a:pPr algn="l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Some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clusters have higher income and higher purchases.</a:t>
            </a:r>
          </a:p>
          <a:p>
            <a:pPr algn="l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Other clusters are more price-sensi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tiv</a:t>
            </a: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 or inactive.</a:t>
            </a:r>
          </a:p>
          <a:p>
            <a:pPr algn="l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This segmentation helps businesses understand customers better.</a:t>
            </a:r>
          </a:p>
          <a:p>
            <a:pPr algn="l">
              <a:lnSpc>
                <a:spcPts val="2171"/>
              </a:lnSpc>
            </a:pPr>
            <a:r>
              <a:rPr lang="en-US" sz="1809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It can be used for targeted marketing and personalized offers.</a:t>
            </a:r>
          </a:p>
          <a:p>
            <a:pPr algn="l">
              <a:lnSpc>
                <a:spcPts val="2171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424328" y="1225031"/>
            <a:ext cx="5029020" cy="3862156"/>
          </a:xfrm>
          <a:custGeom>
            <a:avLst/>
            <a:gdLst/>
            <a:ahLst/>
            <a:cxnLst/>
            <a:rect r="r" b="b" t="t" l="l"/>
            <a:pathLst>
              <a:path h="3862156" w="5029020">
                <a:moveTo>
                  <a:pt x="0" y="0"/>
                </a:moveTo>
                <a:lnTo>
                  <a:pt x="5029019" y="0"/>
                </a:lnTo>
                <a:lnTo>
                  <a:pt x="5029019" y="3862156"/>
                </a:lnTo>
                <a:lnTo>
                  <a:pt x="0" y="3862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877675" cy="6829425"/>
          </a:xfrm>
          <a:custGeom>
            <a:avLst/>
            <a:gdLst/>
            <a:ahLst/>
            <a:cxnLst/>
            <a:rect r="r" b="b" t="t" l="l"/>
            <a:pathLst>
              <a:path h="6829425" w="11877675">
                <a:moveTo>
                  <a:pt x="0" y="0"/>
                </a:moveTo>
                <a:lnTo>
                  <a:pt x="11877675" y="0"/>
                </a:lnTo>
                <a:lnTo>
                  <a:pt x="11877675" y="6829425"/>
                </a:lnTo>
                <a:lnTo>
                  <a:pt x="0" y="682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85985" y="4884882"/>
            <a:ext cx="3017374" cy="1063392"/>
          </a:xfrm>
          <a:custGeom>
            <a:avLst/>
            <a:gdLst/>
            <a:ahLst/>
            <a:cxnLst/>
            <a:rect r="r" b="b" t="t" l="l"/>
            <a:pathLst>
              <a:path h="1063392" w="3017374">
                <a:moveTo>
                  <a:pt x="0" y="0"/>
                </a:moveTo>
                <a:lnTo>
                  <a:pt x="3017374" y="0"/>
                </a:lnTo>
                <a:lnTo>
                  <a:pt x="3017374" y="1063392"/>
                </a:lnTo>
                <a:lnTo>
                  <a:pt x="0" y="1063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2942" y="1522466"/>
            <a:ext cx="4332035" cy="3176287"/>
          </a:xfrm>
          <a:custGeom>
            <a:avLst/>
            <a:gdLst/>
            <a:ahLst/>
            <a:cxnLst/>
            <a:rect r="r" b="b" t="t" l="l"/>
            <a:pathLst>
              <a:path h="3176287" w="4332035">
                <a:moveTo>
                  <a:pt x="0" y="0"/>
                </a:moveTo>
                <a:lnTo>
                  <a:pt x="4332036" y="0"/>
                </a:lnTo>
                <a:lnTo>
                  <a:pt x="4332036" y="3176287"/>
                </a:lnTo>
                <a:lnTo>
                  <a:pt x="0" y="31762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10376" y="1670821"/>
            <a:ext cx="5983712" cy="427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7"/>
              </a:lnSpc>
            </a:pP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In this task we built a classi</a:t>
            </a: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fication mod</a:t>
            </a: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el.</a:t>
            </a:r>
          </a:p>
          <a:p>
            <a:pPr algn="l">
              <a:lnSpc>
                <a:spcPts val="1997"/>
              </a:lnSpc>
            </a:pP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The</a:t>
            </a: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goal is to predict if a customer will buy a specific product category.</a:t>
            </a:r>
          </a:p>
          <a:p>
            <a:pPr algn="l">
              <a:lnSpc>
                <a:spcPts val="1997"/>
              </a:lnSpc>
            </a:pP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W</a:t>
            </a: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 created a binary target variable based on pas</a:t>
            </a: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purchases.</a:t>
            </a:r>
          </a:p>
          <a:p>
            <a:pPr algn="l">
              <a:lnSpc>
                <a:spcPts val="1997"/>
              </a:lnSpc>
            </a:pP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Transaction data was aggregated to customer level.</a:t>
            </a:r>
          </a:p>
          <a:p>
            <a:pPr algn="l">
              <a:lnSpc>
                <a:spcPts val="1997"/>
              </a:lnSpc>
            </a:pP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W</a:t>
            </a: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 used customer attributes and aggregated features as inputs.</a:t>
            </a:r>
          </a:p>
          <a:p>
            <a:pPr algn="just">
              <a:lnSpc>
                <a:spcPts val="1997"/>
              </a:lnSpc>
            </a:pP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We trained a classification model.</a:t>
            </a:r>
          </a:p>
          <a:p>
            <a:pPr algn="l">
              <a:lnSpc>
                <a:spcPts val="1997"/>
              </a:lnSpc>
            </a:pP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The data was split into train and test sets.</a:t>
            </a:r>
          </a:p>
          <a:p>
            <a:pPr algn="l">
              <a:lnSpc>
                <a:spcPts val="1997"/>
              </a:lnSpc>
            </a:pP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We evaluated the model using several metrics.</a:t>
            </a:r>
          </a:p>
          <a:p>
            <a:pPr algn="l">
              <a:lnSpc>
                <a:spcPts val="1997"/>
              </a:lnSpc>
            </a:pP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Accuracy shows overall correctness.</a:t>
            </a:r>
          </a:p>
          <a:p>
            <a:pPr algn="l">
              <a:lnSpc>
                <a:spcPts val="1997"/>
              </a:lnSpc>
            </a:pP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Precision and recall show prediction quality.</a:t>
            </a:r>
          </a:p>
          <a:p>
            <a:pPr algn="l">
              <a:lnSpc>
                <a:spcPts val="1997"/>
              </a:lnSpc>
            </a:pP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F1-score balances precision and recall.</a:t>
            </a:r>
          </a:p>
          <a:p>
            <a:pPr algn="l">
              <a:lnSpc>
                <a:spcPts val="1997"/>
              </a:lnSpc>
            </a:pP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ROC-AUC shows how well the model separates classes.</a:t>
            </a:r>
          </a:p>
          <a:p>
            <a:pPr algn="l">
              <a:lnSpc>
                <a:spcPts val="1997"/>
              </a:lnSpc>
            </a:pPr>
            <a:r>
              <a:rPr lang="en-US" sz="1664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The results show that the model performs reasonably well.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5934" y="272531"/>
            <a:ext cx="978385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250" b="true">
                <a:solidFill>
                  <a:srgbClr val="D50032"/>
                </a:solidFill>
                <a:latin typeface="Gotham Bold"/>
                <a:ea typeface="Gotham Bold"/>
                <a:cs typeface="Gotham Bold"/>
                <a:sym typeface="Gotham Bold"/>
              </a:rPr>
              <a:t>Task 5: Predictive Modeling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877675" cy="6829425"/>
          </a:xfrm>
          <a:custGeom>
            <a:avLst/>
            <a:gdLst/>
            <a:ahLst/>
            <a:cxnLst/>
            <a:rect r="r" b="b" t="t" l="l"/>
            <a:pathLst>
              <a:path h="6829425" w="11877675">
                <a:moveTo>
                  <a:pt x="0" y="0"/>
                </a:moveTo>
                <a:lnTo>
                  <a:pt x="11877675" y="0"/>
                </a:lnTo>
                <a:lnTo>
                  <a:pt x="11877675" y="6829425"/>
                </a:lnTo>
                <a:lnTo>
                  <a:pt x="0" y="682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70784" y="2365139"/>
            <a:ext cx="2387567" cy="2731770"/>
          </a:xfrm>
          <a:custGeom>
            <a:avLst/>
            <a:gdLst/>
            <a:ahLst/>
            <a:cxnLst/>
            <a:rect r="r" b="b" t="t" l="l"/>
            <a:pathLst>
              <a:path h="2731770" w="2387567">
                <a:moveTo>
                  <a:pt x="0" y="0"/>
                </a:moveTo>
                <a:lnTo>
                  <a:pt x="2387567" y="0"/>
                </a:lnTo>
                <a:lnTo>
                  <a:pt x="2387567" y="2731770"/>
                </a:lnTo>
                <a:lnTo>
                  <a:pt x="0" y="2731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50931" y="2365139"/>
            <a:ext cx="5820665" cy="3031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2"/>
              </a:lnSpc>
            </a:pP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The data shows clear cus</a:t>
            </a: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tom</a:t>
            </a: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er beh</a:t>
            </a: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avior patterns.</a:t>
            </a:r>
          </a:p>
          <a:p>
            <a:pPr algn="l">
              <a:lnSpc>
                <a:spcPts val="2192"/>
              </a:lnSpc>
            </a:pP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Some customer characteristics strongly influence product interest.</a:t>
            </a:r>
          </a:p>
          <a:p>
            <a:pPr algn="l">
              <a:lnSpc>
                <a:spcPts val="2192"/>
              </a:lnSpc>
            </a:pP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Tim</a:t>
            </a: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 series analysis shows sales trends and seasonality.</a:t>
            </a:r>
          </a:p>
          <a:p>
            <a:pPr algn="l">
              <a:lnSpc>
                <a:spcPts val="2192"/>
              </a:lnSpc>
            </a:pP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Customer segment</a:t>
            </a: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ation help</a:t>
            </a: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s identify valuable customer groups.</a:t>
            </a:r>
          </a:p>
          <a:p>
            <a:pPr algn="l">
              <a:lnSpc>
                <a:spcPts val="2192"/>
              </a:lnSpc>
            </a:pP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Predictive modeling helps target customers more effectively.</a:t>
            </a:r>
          </a:p>
          <a:p>
            <a:pPr algn="l">
              <a:lnSpc>
                <a:spcPts val="2192"/>
              </a:lnSpc>
            </a:pP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The models are not perfect, but they are useful for decision-making.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2074" y="272531"/>
            <a:ext cx="1129352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250" b="true">
                <a:solidFill>
                  <a:srgbClr val="D50032"/>
                </a:solidFill>
                <a:latin typeface="Gotham Bold"/>
                <a:ea typeface="Gotham Bold"/>
                <a:cs typeface="Gotham Bold"/>
                <a:sym typeface="Gotham Bold"/>
              </a:rPr>
              <a:t>Task 6: Business Interpretation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877675" cy="6829425"/>
          </a:xfrm>
          <a:custGeom>
            <a:avLst/>
            <a:gdLst/>
            <a:ahLst/>
            <a:cxnLst/>
            <a:rect r="r" b="b" t="t" l="l"/>
            <a:pathLst>
              <a:path h="6829425" w="11877675">
                <a:moveTo>
                  <a:pt x="0" y="0"/>
                </a:moveTo>
                <a:lnTo>
                  <a:pt x="11877675" y="0"/>
                </a:lnTo>
                <a:lnTo>
                  <a:pt x="11877675" y="6829425"/>
                </a:lnTo>
                <a:lnTo>
                  <a:pt x="0" y="682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19481" y="1737167"/>
            <a:ext cx="8638713" cy="440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2"/>
              </a:lnSpc>
            </a:pP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In this project, we analyzed real e-commerce data using Python.</a:t>
            </a:r>
          </a:p>
          <a:p>
            <a:pPr algn="l">
              <a:lnSpc>
                <a:spcPts val="2192"/>
              </a:lnSpc>
            </a:pP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First, we cleaned the data by fixing missing values, duplica</a:t>
            </a: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tes, wrong data types, and logical </a:t>
            </a: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errors.</a:t>
            </a:r>
          </a:p>
          <a:p>
            <a:pPr algn="l">
              <a:lnSpc>
                <a:spcPts val="2192"/>
              </a:lnSpc>
            </a:pP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This step w</a:t>
            </a: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as very important to make the data ready for analysis.</a:t>
            </a:r>
          </a:p>
          <a:p>
            <a:pPr algn="l">
              <a:lnSpc>
                <a:spcPts val="2192"/>
              </a:lnSpc>
            </a:pP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Then</a:t>
            </a: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we explored the data using statistics and visualizations.</a:t>
            </a:r>
          </a:p>
          <a:p>
            <a:pPr algn="l">
              <a:lnSpc>
                <a:spcPts val="2192"/>
              </a:lnSpc>
            </a:pP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EDA helped us understand sales distribution, customer segments, and time trends.</a:t>
            </a:r>
          </a:p>
          <a:p>
            <a:pPr algn="l">
              <a:lnSpc>
                <a:spcPts val="2192"/>
              </a:lnSpc>
            </a:pP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We used tim</a:t>
            </a: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e series analysis to study sales over time and forecast future values.</a:t>
            </a:r>
          </a:p>
          <a:p>
            <a:pPr algn="l">
              <a:lnSpc>
                <a:spcPts val="2192"/>
              </a:lnSpc>
            </a:pP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The model shows reasonable accuracy and can be used for short-term planning.</a:t>
            </a:r>
          </a:p>
          <a:p>
            <a:pPr algn="l">
              <a:lnSpc>
                <a:spcPts val="2192"/>
              </a:lnSpc>
            </a:pP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Customer segment</a:t>
            </a: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ation helped u</a:t>
            </a: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s group customers with similar behavior.</a:t>
            </a:r>
          </a:p>
          <a:p>
            <a:pPr algn="l">
              <a:lnSpc>
                <a:spcPts val="2192"/>
              </a:lnSpc>
            </a:pP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 Predictive modeling helped us estimate customer interest in products.</a:t>
            </a:r>
          </a:p>
          <a:p>
            <a:pPr algn="l">
              <a:lnSpc>
                <a:spcPts val="2192"/>
              </a:lnSpc>
            </a:pPr>
          </a:p>
          <a:p>
            <a:pPr algn="l">
              <a:lnSpc>
                <a:spcPts val="2192"/>
              </a:lnSpc>
            </a:pPr>
            <a:r>
              <a:rPr lang="en-US" sz="1826">
                <a:solidFill>
                  <a:srgbClr val="161616"/>
                </a:solidFill>
                <a:latin typeface="Gotham"/>
                <a:ea typeface="Gotham"/>
                <a:cs typeface="Gotham"/>
                <a:sym typeface="Gotham"/>
              </a:rPr>
              <a:t>Overall, the project shows how data analysis can support better business decisions, such as marketing, customer targeting, and sales forecasting.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2074" y="272531"/>
            <a:ext cx="1129352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250" b="true">
                <a:solidFill>
                  <a:srgbClr val="D50032"/>
                </a:solidFill>
                <a:latin typeface="Gotham Bold"/>
                <a:ea typeface="Gotham Bold"/>
                <a:cs typeface="Gotham Bold"/>
                <a:sym typeface="Gotham Bold"/>
              </a:rPr>
              <a:t>Conclusion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877675" cy="6829425"/>
          </a:xfrm>
          <a:custGeom>
            <a:avLst/>
            <a:gdLst/>
            <a:ahLst/>
            <a:cxnLst/>
            <a:rect r="r" b="b" t="t" l="l"/>
            <a:pathLst>
              <a:path h="6829425" w="11877675">
                <a:moveTo>
                  <a:pt x="0" y="0"/>
                </a:moveTo>
                <a:lnTo>
                  <a:pt x="11877675" y="0"/>
                </a:lnTo>
                <a:lnTo>
                  <a:pt x="11877675" y="6829425"/>
                </a:lnTo>
                <a:lnTo>
                  <a:pt x="0" y="682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66732" y="2805113"/>
            <a:ext cx="5944212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true">
                <a:solidFill>
                  <a:srgbClr val="C00000"/>
                </a:solidFill>
                <a:latin typeface="Gotham Bold"/>
                <a:ea typeface="Gotham Bold"/>
                <a:cs typeface="Gotham Bold"/>
                <a:sym typeface="Gotham Bold"/>
              </a:rPr>
              <a:t>THANK YOU FOR YOU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DAG8hypslEw</dc:identifier>
  <dcterms:modified xsi:type="dcterms:W3CDTF">2011-08-01T06:04:30Z</dcterms:modified>
  <cp:revision>1</cp:revision>
  <dc:title>BDA_Final</dc:title>
</cp:coreProperties>
</file>